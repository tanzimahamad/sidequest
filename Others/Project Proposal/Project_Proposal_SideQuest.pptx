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ernoru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mic Sans" panose="020B0604020202020204" charset="0"/>
      <p:regular r:id="rId16"/>
    </p:embeddedFont>
    <p:embeddedFont>
      <p:font typeface="Comic Sans Bold" panose="020B0604020202020204" charset="0"/>
      <p:regular r:id="rId17"/>
    </p:embeddedFont>
    <p:embeddedFont>
      <p:font typeface="Glacial Indifference" panose="020B0604020202020204" charset="0"/>
      <p:regular r:id="rId18"/>
    </p:embeddedFont>
    <p:embeddedFont>
      <p:font typeface="Glacial Indifference Bold" panose="020B0604020202020204" charset="0"/>
      <p:regular r:id="rId19"/>
    </p:embeddedFont>
    <p:embeddedFont>
      <p:font typeface="Gliker" panose="020B0604020202020204" charset="0"/>
      <p:regular r:id="rId20"/>
    </p:embeddedFont>
    <p:embeddedFont>
      <p:font typeface="Maven Pro Bold" panose="020B0604020202020204" charset="0"/>
      <p:regular r:id="rId21"/>
    </p:embeddedFont>
    <p:embeddedFont>
      <p:font typeface="Muli Bold" panose="020B0604020202020204" charset="0"/>
      <p:regular r:id="rId22"/>
    </p:embeddedFont>
    <p:embeddedFont>
      <p:font typeface="Mulled Wine Season" panose="020B0604020202020204" charset="0"/>
      <p:regular r:id="rId23"/>
    </p:embeddedFont>
    <p:embeddedFont>
      <p:font typeface="Poppi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12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7.svg"/><Relationship Id="rId2" Type="http://schemas.openxmlformats.org/officeDocument/2006/relationships/image" Target="../media/image1.jpeg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19.svg"/><Relationship Id="rId4" Type="http://schemas.openxmlformats.org/officeDocument/2006/relationships/image" Target="../media/image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0" Type="http://schemas.openxmlformats.org/officeDocument/2006/relationships/image" Target="../media/image23.svg"/><Relationship Id="rId4" Type="http://schemas.openxmlformats.org/officeDocument/2006/relationships/image" Target="../media/image3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12" Type="http://schemas.openxmlformats.org/officeDocument/2006/relationships/image" Target="../media/image7.svg"/><Relationship Id="rId2" Type="http://schemas.openxmlformats.org/officeDocument/2006/relationships/image" Target="../media/image1.jpeg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5" Type="http://schemas.openxmlformats.org/officeDocument/2006/relationships/image" Target="../media/image34.png"/><Relationship Id="rId10" Type="http://schemas.openxmlformats.org/officeDocument/2006/relationships/image" Target="../media/image31.svg"/><Relationship Id="rId4" Type="http://schemas.openxmlformats.org/officeDocument/2006/relationships/image" Target="../media/image3.svg"/><Relationship Id="rId9" Type="http://schemas.openxmlformats.org/officeDocument/2006/relationships/image" Target="../media/image30.png"/><Relationship Id="rId1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9.svg"/><Relationship Id="rId5" Type="http://schemas.openxmlformats.org/officeDocument/2006/relationships/image" Target="../media/image5.svg"/><Relationship Id="rId10" Type="http://schemas.openxmlformats.org/officeDocument/2006/relationships/image" Target="../media/image38.png"/><Relationship Id="rId4" Type="http://schemas.openxmlformats.org/officeDocument/2006/relationships/image" Target="../media/image4.png"/><Relationship Id="rId9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44.png"/><Relationship Id="rId5" Type="http://schemas.openxmlformats.org/officeDocument/2006/relationships/image" Target="../media/image4.png"/><Relationship Id="rId10" Type="http://schemas.openxmlformats.org/officeDocument/2006/relationships/image" Target="../media/image43.svg"/><Relationship Id="rId4" Type="http://schemas.openxmlformats.org/officeDocument/2006/relationships/image" Target="../media/image3.sv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588571" y="2517568"/>
            <a:ext cx="11435483" cy="20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92"/>
              </a:lnSpc>
            </a:pPr>
            <a:r>
              <a:rPr lang="en-US" sz="1220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SIDE-QUEST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789" y="4719499"/>
            <a:ext cx="9661991" cy="18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A Social Hangout Planning and Friend Interaction Application</a:t>
            </a:r>
          </a:p>
          <a:p>
            <a:pPr algn="ctr">
              <a:lnSpc>
                <a:spcPts val="4826"/>
              </a:lnSpc>
            </a:pPr>
            <a:endParaRPr lang="en-US" sz="3447" b="1">
              <a:solidFill>
                <a:srgbClr val="171717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10" name="Freeform 10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940560" y="4499166"/>
            <a:ext cx="4995625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33333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Proposal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40560" y="5576761"/>
            <a:ext cx="27835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Facuty</a:t>
            </a:r>
            <a:r>
              <a:rPr lang="en-US" sz="339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Advisor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940560" y="6314713"/>
            <a:ext cx="5147986" cy="4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6"/>
              </a:lnSpc>
            </a:pPr>
            <a:r>
              <a:rPr lang="en-US" sz="294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Dr.Mohammad</a:t>
            </a:r>
            <a:r>
              <a:rPr lang="en-US" sz="294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940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Shifat</a:t>
            </a:r>
            <a:r>
              <a:rPr lang="en-US" sz="294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-E Rabbi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45081" y="-2853987"/>
            <a:ext cx="19178162" cy="3882687"/>
            <a:chOff x="0" y="0"/>
            <a:chExt cx="25570883" cy="5176916"/>
          </a:xfrm>
        </p:grpSpPr>
        <p:sp>
          <p:nvSpPr>
            <p:cNvPr id="22" name="Freeform 22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4082666"/>
              <a:ext cx="3315825" cy="101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CSE299.3</a:t>
              </a:r>
            </a:p>
            <a:p>
              <a:pPr algn="ctr">
                <a:lnSpc>
                  <a:spcPts val="3080"/>
                </a:lnSpc>
              </a:pPr>
              <a:endParaRPr lang="en-US" sz="2200" b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393225" y="185601"/>
            <a:ext cx="2486869" cy="38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Group 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75272" y="185601"/>
            <a:ext cx="2486869" cy="38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FALL 2026/NSU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3022" y="64818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551828" y="768031"/>
            <a:ext cx="7958802" cy="11451514"/>
          </a:xfrm>
          <a:custGeom>
            <a:avLst/>
            <a:gdLst/>
            <a:ahLst/>
            <a:cxnLst/>
            <a:rect l="l" t="t" r="r" b="b"/>
            <a:pathLst>
              <a:path w="7958802" h="11451514">
                <a:moveTo>
                  <a:pt x="0" y="0"/>
                </a:moveTo>
                <a:lnTo>
                  <a:pt x="7958802" y="0"/>
                </a:lnTo>
                <a:lnTo>
                  <a:pt x="7958802" y="11451514"/>
                </a:lnTo>
                <a:lnTo>
                  <a:pt x="0" y="1145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4508911" y="-747229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08767" flipH="1" flipV="1">
            <a:off x="-2215817" y="-2465776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92357" y="5450747"/>
            <a:ext cx="6271038" cy="6176973"/>
          </a:xfrm>
          <a:custGeom>
            <a:avLst/>
            <a:gdLst/>
            <a:ahLst/>
            <a:cxnLst/>
            <a:rect l="l" t="t" r="r" b="b"/>
            <a:pathLst>
              <a:path w="6271038" h="6176973">
                <a:moveTo>
                  <a:pt x="0" y="0"/>
                </a:moveTo>
                <a:lnTo>
                  <a:pt x="6271038" y="0"/>
                </a:lnTo>
                <a:lnTo>
                  <a:pt x="6271038" y="6176972"/>
                </a:lnTo>
                <a:lnTo>
                  <a:pt x="0" y="6176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9000"/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777036" y="237509"/>
            <a:ext cx="3625871" cy="7179942"/>
          </a:xfrm>
          <a:custGeom>
            <a:avLst/>
            <a:gdLst/>
            <a:ahLst/>
            <a:cxnLst/>
            <a:rect l="l" t="t" r="r" b="b"/>
            <a:pathLst>
              <a:path w="3625871" h="7179942">
                <a:moveTo>
                  <a:pt x="0" y="0"/>
                </a:moveTo>
                <a:lnTo>
                  <a:pt x="3625870" y="0"/>
                </a:lnTo>
                <a:lnTo>
                  <a:pt x="3625870" y="7179942"/>
                </a:lnTo>
                <a:lnTo>
                  <a:pt x="0" y="71799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11" name="Freeform 11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238408" y="337828"/>
            <a:ext cx="11435483" cy="122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SIDEQUEST: THE IDEA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5704" y="2982971"/>
            <a:ext cx="5625408" cy="160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3105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SideQuest is a social chatting application designed for group hangout planning.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3554" y="3888248"/>
            <a:ext cx="8460312" cy="498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90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</a:t>
            </a:r>
            <a:r>
              <a:rPr lang="en-US" sz="290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he idea was developed to combine normal group communication with an organized planning process because planning group activities can become difficult when members have different preferences and suggestions.</a:t>
            </a:r>
          </a:p>
          <a:p>
            <a:pPr algn="l">
              <a:lnSpc>
                <a:spcPts val="4073"/>
              </a:lnSpc>
            </a:pPr>
            <a:endParaRPr lang="en-US" sz="2909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  <a:p>
            <a:pPr algn="l">
              <a:lnSpc>
                <a:spcPts val="4073"/>
              </a:lnSpc>
            </a:pPr>
            <a:r>
              <a:rPr lang="en-US" sz="2909" b="1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The project aims to make group decision-making more organized, convenient, and collaborative. </a:t>
            </a:r>
          </a:p>
          <a:p>
            <a:pPr algn="l">
              <a:lnSpc>
                <a:spcPts val="2953"/>
              </a:lnSpc>
            </a:pPr>
            <a:endParaRPr lang="en-US" sz="2909" b="1">
              <a:solidFill>
                <a:srgbClr val="000000"/>
              </a:solidFill>
              <a:latin typeface="Comic Sans Bold"/>
              <a:ea typeface="Comic Sans Bold"/>
              <a:cs typeface="Comic Sans Bold"/>
              <a:sym typeface="Comic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3022" y="64818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466138" y="-309633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83531" y="1478757"/>
            <a:ext cx="2059773" cy="2202966"/>
          </a:xfrm>
          <a:custGeom>
            <a:avLst/>
            <a:gdLst/>
            <a:ahLst/>
            <a:cxnLst/>
            <a:rect l="l" t="t" r="r" b="b"/>
            <a:pathLst>
              <a:path w="2059773" h="2202966">
                <a:moveTo>
                  <a:pt x="0" y="0"/>
                </a:moveTo>
                <a:lnTo>
                  <a:pt x="2059773" y="0"/>
                </a:lnTo>
                <a:lnTo>
                  <a:pt x="2059773" y="2202966"/>
                </a:lnTo>
                <a:lnTo>
                  <a:pt x="0" y="2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54082" y="4072513"/>
            <a:ext cx="8040688" cy="4663599"/>
          </a:xfrm>
          <a:custGeom>
            <a:avLst/>
            <a:gdLst/>
            <a:ahLst/>
            <a:cxnLst/>
            <a:rect l="l" t="t" r="r" b="b"/>
            <a:pathLst>
              <a:path w="8040688" h="4663599">
                <a:moveTo>
                  <a:pt x="0" y="0"/>
                </a:moveTo>
                <a:lnTo>
                  <a:pt x="8040688" y="0"/>
                </a:lnTo>
                <a:lnTo>
                  <a:pt x="8040688" y="4663599"/>
                </a:lnTo>
                <a:lnTo>
                  <a:pt x="0" y="46635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95216" y="4822111"/>
            <a:ext cx="7358420" cy="3116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  <a:spcBef>
                <a:spcPct val="0"/>
              </a:spcBef>
            </a:pPr>
            <a:r>
              <a:rPr lang="en-US" sz="2542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THE PROJECT PROVIDES A FOUNDATION FOR FUTURE DEVELOPMENT OF INTEGRATED SOCIAL AND PLANNING FEATURES, ALLOWING USERS TO MANAGE CHATTING, PLANNING, AND DECISION-MAKING IN ONE PLACE INSTEAD OF SWITCHING BETWEEN DIFFERENT APPLICATIONS.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11" name="Freeform 11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344872" y="5610638"/>
            <a:ext cx="1989278" cy="1989278"/>
          </a:xfrm>
          <a:custGeom>
            <a:avLst/>
            <a:gdLst/>
            <a:ahLst/>
            <a:cxnLst/>
            <a:rect l="l" t="t" r="r" b="b"/>
            <a:pathLst>
              <a:path w="1989278" h="1989278">
                <a:moveTo>
                  <a:pt x="0" y="0"/>
                </a:moveTo>
                <a:lnTo>
                  <a:pt x="1989278" y="0"/>
                </a:lnTo>
                <a:lnTo>
                  <a:pt x="1989278" y="1989278"/>
                </a:lnTo>
                <a:lnTo>
                  <a:pt x="0" y="19892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344872" y="157886"/>
            <a:ext cx="8206439" cy="3585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30"/>
              </a:lnSpc>
            </a:pPr>
            <a:r>
              <a:rPr lang="en-US" sz="10235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THE KEY INNOVATION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3637" y="1837117"/>
            <a:ext cx="15503270" cy="60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6"/>
              </a:lnSpc>
              <a:spcBef>
                <a:spcPct val="0"/>
              </a:spcBef>
            </a:pPr>
            <a:endParaRPr/>
          </a:p>
        </p:txBody>
      </p:sp>
      <p:sp>
        <p:nvSpPr>
          <p:cNvPr id="21" name="Freeform 21"/>
          <p:cNvSpPr/>
          <p:nvPr/>
        </p:nvSpPr>
        <p:spPr>
          <a:xfrm rot="5400000">
            <a:off x="1029537" y="2318964"/>
            <a:ext cx="3625871" cy="7179942"/>
          </a:xfrm>
          <a:custGeom>
            <a:avLst/>
            <a:gdLst/>
            <a:ahLst/>
            <a:cxnLst/>
            <a:rect l="l" t="t" r="r" b="b"/>
            <a:pathLst>
              <a:path w="3625871" h="7179942">
                <a:moveTo>
                  <a:pt x="0" y="0"/>
                </a:moveTo>
                <a:lnTo>
                  <a:pt x="3625871" y="0"/>
                </a:lnTo>
                <a:lnTo>
                  <a:pt x="3625871" y="7179942"/>
                </a:lnTo>
                <a:lnTo>
                  <a:pt x="0" y="71799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8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36996" y="4367980"/>
            <a:ext cx="3007876" cy="1517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5"/>
              </a:lnSpc>
            </a:pPr>
            <a:r>
              <a:rPr lang="en-US" sz="4382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WHY </a:t>
            </a:r>
          </a:p>
          <a:p>
            <a:pPr algn="l">
              <a:lnSpc>
                <a:spcPts val="6135"/>
              </a:lnSpc>
              <a:spcBef>
                <a:spcPct val="0"/>
              </a:spcBef>
            </a:pPr>
            <a:r>
              <a:rPr lang="en-US" sz="4382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SIDEQUEST</a:t>
            </a:r>
          </a:p>
        </p:txBody>
      </p:sp>
      <p:sp>
        <p:nvSpPr>
          <p:cNvPr id="23" name="Freeform 23"/>
          <p:cNvSpPr/>
          <p:nvPr/>
        </p:nvSpPr>
        <p:spPr>
          <a:xfrm rot="5400000">
            <a:off x="-5358771" y="5231234"/>
            <a:ext cx="3625871" cy="7179942"/>
          </a:xfrm>
          <a:custGeom>
            <a:avLst/>
            <a:gdLst/>
            <a:ahLst/>
            <a:cxnLst/>
            <a:rect l="l" t="t" r="r" b="b"/>
            <a:pathLst>
              <a:path w="3625871" h="7179942">
                <a:moveTo>
                  <a:pt x="0" y="0"/>
                </a:moveTo>
                <a:lnTo>
                  <a:pt x="3625871" y="0"/>
                </a:lnTo>
                <a:lnTo>
                  <a:pt x="3625871" y="7179942"/>
                </a:lnTo>
                <a:lnTo>
                  <a:pt x="0" y="71799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8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8" name="Freeform 8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rot="-3788674">
            <a:off x="8616866" y="5830513"/>
            <a:ext cx="3224439" cy="2740773"/>
          </a:xfrm>
          <a:custGeom>
            <a:avLst/>
            <a:gdLst/>
            <a:ahLst/>
            <a:cxnLst/>
            <a:rect l="l" t="t" r="r" b="b"/>
            <a:pathLst>
              <a:path w="3224439" h="2740773">
                <a:moveTo>
                  <a:pt x="0" y="0"/>
                </a:moveTo>
                <a:lnTo>
                  <a:pt x="3224439" y="0"/>
                </a:lnTo>
                <a:lnTo>
                  <a:pt x="3224439" y="2740774"/>
                </a:lnTo>
                <a:lnTo>
                  <a:pt x="0" y="2740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673917" y="2655925"/>
            <a:ext cx="6126679" cy="6807421"/>
          </a:xfrm>
          <a:custGeom>
            <a:avLst/>
            <a:gdLst/>
            <a:ahLst/>
            <a:cxnLst/>
            <a:rect l="l" t="t" r="r" b="b"/>
            <a:pathLst>
              <a:path w="6126679" h="6807421">
                <a:moveTo>
                  <a:pt x="0" y="0"/>
                </a:moveTo>
                <a:lnTo>
                  <a:pt x="6126679" y="0"/>
                </a:lnTo>
                <a:lnTo>
                  <a:pt x="6126679" y="6807421"/>
                </a:lnTo>
                <a:lnTo>
                  <a:pt x="0" y="68074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-43403" y="420089"/>
            <a:ext cx="11435483" cy="228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WHAT’S SO SPECIAL THAN AN USUAL SOCIAL MEDIA?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6443" y="2912751"/>
            <a:ext cx="11079466" cy="36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171717"/>
                </a:solidFill>
                <a:latin typeface="Gliker"/>
                <a:ea typeface="Gliker"/>
                <a:cs typeface="Gliker"/>
                <a:sym typeface="Gliker"/>
              </a:rPr>
              <a:t>The application supports the basic features of a social communication platform, including private messaging, group messaging, friend management, and user profiles.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171717"/>
                </a:solidFill>
                <a:latin typeface="Gliker"/>
                <a:ea typeface="Gliker"/>
                <a:cs typeface="Gliker"/>
                <a:sym typeface="Gliker"/>
              </a:rPr>
              <a:t>It allows users to communicate and maintain their social connections within the application.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89058" y="4471292"/>
            <a:ext cx="4496397" cy="240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SIDEQUEST PROVIDES A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 STRUCTURED SYSTEM 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FOR CHATTING, PLANNING AND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 DECIDING GROUP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 HANGOUTS </a:t>
            </a:r>
          </a:p>
          <a:p>
            <a:pPr algn="ctr">
              <a:lnSpc>
                <a:spcPts val="3159"/>
              </a:lnSpc>
              <a:spcBef>
                <a:spcPct val="0"/>
              </a:spcBef>
            </a:pPr>
            <a:r>
              <a:rPr lang="en-US" sz="2257">
                <a:solidFill>
                  <a:srgbClr val="FFFFFF"/>
                </a:solidFill>
                <a:latin typeface="Bernoru"/>
                <a:ea typeface="Bernoru"/>
                <a:cs typeface="Bernoru"/>
                <a:sym typeface="Bernoru"/>
              </a:rPr>
              <a:t>WITHIN THE SAME APP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83571" y="8288506"/>
            <a:ext cx="2389239" cy="46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  <a:spcBef>
                <a:spcPct val="0"/>
              </a:spcBef>
            </a:pPr>
            <a:r>
              <a:rPr lang="en-US" sz="2682" b="1">
                <a:solidFill>
                  <a:srgbClr val="000000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SPECIALITY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1001" y="4402218"/>
            <a:ext cx="1334897" cy="1334897"/>
            <a:chOff x="0" y="0"/>
            <a:chExt cx="1779863" cy="177986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779863" cy="1779863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E8E3D">
                      <a:alpha val="100000"/>
                    </a:srgbClr>
                  </a:gs>
                  <a:gs pos="33333">
                    <a:srgbClr val="E0C355">
                      <a:alpha val="100000"/>
                    </a:srgbClr>
                  </a:gs>
                  <a:gs pos="66667">
                    <a:srgbClr val="E0C355">
                      <a:alpha val="100000"/>
                    </a:srgbClr>
                  </a:gs>
                  <a:gs pos="100000">
                    <a:srgbClr val="BE8E3D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6509" y="347720"/>
              <a:ext cx="1646844" cy="987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499" b="1">
                  <a:solidFill>
                    <a:srgbClr val="333333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01.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106915" y="8606245"/>
            <a:ext cx="1334897" cy="1356195"/>
            <a:chOff x="0" y="0"/>
            <a:chExt cx="812800" cy="8257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25768"/>
            </a:xfrm>
            <a:custGeom>
              <a:avLst/>
              <a:gdLst/>
              <a:ahLst/>
              <a:cxnLst/>
              <a:rect l="l" t="t" r="r" b="b"/>
              <a:pathLst>
                <a:path w="812800" h="825768">
                  <a:moveTo>
                    <a:pt x="406400" y="0"/>
                  </a:moveTo>
                  <a:cubicBezTo>
                    <a:pt x="181951" y="0"/>
                    <a:pt x="0" y="184855"/>
                    <a:pt x="0" y="412884"/>
                  </a:cubicBezTo>
                  <a:cubicBezTo>
                    <a:pt x="0" y="640914"/>
                    <a:pt x="181951" y="825768"/>
                    <a:pt x="406400" y="825768"/>
                  </a:cubicBezTo>
                  <a:cubicBezTo>
                    <a:pt x="630849" y="825768"/>
                    <a:pt x="812800" y="640914"/>
                    <a:pt x="812800" y="412884"/>
                  </a:cubicBezTo>
                  <a:cubicBezTo>
                    <a:pt x="812800" y="184855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E8E3D">
                    <a:alpha val="100000"/>
                  </a:srgbClr>
                </a:gs>
                <a:gs pos="33333">
                  <a:srgbClr val="E0C355">
                    <a:alpha val="100000"/>
                  </a:srgbClr>
                </a:gs>
                <a:gs pos="66667">
                  <a:srgbClr val="E0C355">
                    <a:alpha val="100000"/>
                  </a:srgbClr>
                </a:gs>
                <a:gs pos="100000">
                  <a:srgbClr val="BE8E3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9316"/>
              <a:ext cx="660400" cy="709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16" name="Freeform 16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0189891" y="2329093"/>
            <a:ext cx="4874398" cy="6817340"/>
          </a:xfrm>
          <a:custGeom>
            <a:avLst/>
            <a:gdLst/>
            <a:ahLst/>
            <a:cxnLst/>
            <a:rect l="l" t="t" r="r" b="b"/>
            <a:pathLst>
              <a:path w="4874398" h="6817340">
                <a:moveTo>
                  <a:pt x="0" y="0"/>
                </a:moveTo>
                <a:lnTo>
                  <a:pt x="4874398" y="0"/>
                </a:lnTo>
                <a:lnTo>
                  <a:pt x="4874398" y="6817340"/>
                </a:lnTo>
                <a:lnTo>
                  <a:pt x="0" y="68173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53773" y="4025522"/>
            <a:ext cx="8328587" cy="4580723"/>
          </a:xfrm>
          <a:custGeom>
            <a:avLst/>
            <a:gdLst/>
            <a:ahLst/>
            <a:cxnLst/>
            <a:rect l="l" t="t" r="r" b="b"/>
            <a:pathLst>
              <a:path w="8328587" h="4580723">
                <a:moveTo>
                  <a:pt x="0" y="0"/>
                </a:moveTo>
                <a:lnTo>
                  <a:pt x="8328587" y="0"/>
                </a:lnTo>
                <a:lnTo>
                  <a:pt x="8328587" y="4580723"/>
                </a:lnTo>
                <a:lnTo>
                  <a:pt x="0" y="45807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445570" y="1621621"/>
            <a:ext cx="1393720" cy="1414944"/>
          </a:xfrm>
          <a:custGeom>
            <a:avLst/>
            <a:gdLst/>
            <a:ahLst/>
            <a:cxnLst/>
            <a:rect l="l" t="t" r="r" b="b"/>
            <a:pathLst>
              <a:path w="1393720" h="1414944">
                <a:moveTo>
                  <a:pt x="0" y="0"/>
                </a:moveTo>
                <a:lnTo>
                  <a:pt x="1393720" y="0"/>
                </a:lnTo>
                <a:lnTo>
                  <a:pt x="1393720" y="1414944"/>
                </a:lnTo>
                <a:lnTo>
                  <a:pt x="0" y="14149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6"/>
          <p:cNvSpPr txBox="1"/>
          <p:nvPr/>
        </p:nvSpPr>
        <p:spPr>
          <a:xfrm>
            <a:off x="795779" y="928"/>
            <a:ext cx="7798729" cy="335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44"/>
              </a:lnSpc>
            </a:pPr>
            <a:r>
              <a:rPr lang="en-US" sz="9603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SIDEQUEST </a:t>
            </a:r>
          </a:p>
          <a:p>
            <a:pPr algn="l">
              <a:lnSpc>
                <a:spcPts val="13444"/>
              </a:lnSpc>
            </a:pPr>
            <a:r>
              <a:rPr lang="en-US" sz="9603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PLANNING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93703" y="4713447"/>
            <a:ext cx="5448727" cy="312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3"/>
              </a:lnSpc>
            </a:pPr>
            <a:r>
              <a:rPr lang="en-US" sz="357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A SideQuest can contain  </a:t>
            </a:r>
          </a:p>
          <a:p>
            <a:pPr algn="l">
              <a:lnSpc>
                <a:spcPts val="5003"/>
              </a:lnSpc>
            </a:pPr>
            <a:r>
              <a:rPr lang="en-US" sz="357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either a single activity or </a:t>
            </a:r>
          </a:p>
          <a:p>
            <a:pPr algn="l">
              <a:lnSpc>
                <a:spcPts val="5003"/>
              </a:lnSpc>
            </a:pPr>
            <a:r>
              <a:rPr lang="en-US" sz="357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multiple activities. </a:t>
            </a:r>
          </a:p>
          <a:p>
            <a:pPr algn="l">
              <a:lnSpc>
                <a:spcPts val="5003"/>
              </a:lnSpc>
            </a:pPr>
            <a:r>
              <a:rPr lang="en-US" sz="357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Eg. </a:t>
            </a:r>
          </a:p>
          <a:p>
            <a:pPr algn="l">
              <a:lnSpc>
                <a:spcPts val="5003"/>
              </a:lnSpc>
            </a:pPr>
            <a:r>
              <a:rPr lang="en-US" sz="357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Movie-&gt;Lunch-&gt;Desert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23277" y="3749715"/>
            <a:ext cx="4018225" cy="323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053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This is the main idea of the project. Users will be able to create a SideQuest planning session within a group conversation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06679" y="8860480"/>
            <a:ext cx="1235133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02.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651350">
            <a:off x="164718" y="671208"/>
            <a:ext cx="2245189" cy="1594084"/>
          </a:xfrm>
          <a:custGeom>
            <a:avLst/>
            <a:gdLst/>
            <a:ahLst/>
            <a:cxnLst/>
            <a:rect l="l" t="t" r="r" b="b"/>
            <a:pathLst>
              <a:path w="2245189" h="1594084">
                <a:moveTo>
                  <a:pt x="0" y="0"/>
                </a:moveTo>
                <a:lnTo>
                  <a:pt x="2245188" y="0"/>
                </a:lnTo>
                <a:lnTo>
                  <a:pt x="2245188" y="1594084"/>
                </a:lnTo>
                <a:lnTo>
                  <a:pt x="0" y="15940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96202" y="2239682"/>
            <a:ext cx="9040457" cy="8046007"/>
          </a:xfrm>
          <a:custGeom>
            <a:avLst/>
            <a:gdLst/>
            <a:ahLst/>
            <a:cxnLst/>
            <a:rect l="l" t="t" r="r" b="b"/>
            <a:pathLst>
              <a:path w="9040457" h="8046007">
                <a:moveTo>
                  <a:pt x="0" y="0"/>
                </a:moveTo>
                <a:lnTo>
                  <a:pt x="9040457" y="0"/>
                </a:lnTo>
                <a:lnTo>
                  <a:pt x="9040457" y="8046006"/>
                </a:lnTo>
                <a:lnTo>
                  <a:pt x="0" y="80460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916079" y="5423155"/>
            <a:ext cx="8630129" cy="229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8407" lvl="1" indent="-234203" algn="l">
              <a:lnSpc>
                <a:spcPts val="3037"/>
              </a:lnSpc>
              <a:spcBef>
                <a:spcPct val="0"/>
              </a:spcBef>
              <a:buFont typeface="Arial"/>
              <a:buChar char="•"/>
            </a:pPr>
            <a:r>
              <a:rPr lang="en-US" sz="21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THESE GAMES PROVIDE ADDITIONAL SOCIAL INTERACTION WITHIN GROUP CONVERSATIONS.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endParaRPr lang="en-US" sz="216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68407" lvl="1" indent="-234203" algn="l">
              <a:lnSpc>
                <a:spcPts val="3037"/>
              </a:lnSpc>
              <a:spcBef>
                <a:spcPct val="0"/>
              </a:spcBef>
              <a:buFont typeface="Arial"/>
              <a:buChar char="•"/>
            </a:pPr>
            <a:r>
              <a:rPr lang="en-US" sz="21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OVERALL, SIDEQUEST COMBINES CHATTING, PLANNING, DECISION-MAKING, AND SOCIAL INTERACTION IN ONE APPLICATION.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445081" y="6480135"/>
            <a:ext cx="19178162" cy="3882687"/>
            <a:chOff x="0" y="0"/>
            <a:chExt cx="25570883" cy="5176916"/>
          </a:xfrm>
        </p:grpSpPr>
        <p:sp>
          <p:nvSpPr>
            <p:cNvPr id="11" name="Freeform 11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193938" y="2302040"/>
            <a:ext cx="2852694" cy="1084024"/>
          </a:xfrm>
          <a:custGeom>
            <a:avLst/>
            <a:gdLst/>
            <a:ahLst/>
            <a:cxnLst/>
            <a:rect l="l" t="t" r="r" b="b"/>
            <a:pathLst>
              <a:path w="2852694" h="1084024">
                <a:moveTo>
                  <a:pt x="0" y="0"/>
                </a:moveTo>
                <a:lnTo>
                  <a:pt x="2852694" y="0"/>
                </a:lnTo>
                <a:lnTo>
                  <a:pt x="2852694" y="1084024"/>
                </a:lnTo>
                <a:lnTo>
                  <a:pt x="0" y="10840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9088" y="3861460"/>
            <a:ext cx="7315200" cy="2048256"/>
          </a:xfrm>
          <a:custGeom>
            <a:avLst/>
            <a:gdLst/>
            <a:ahLst/>
            <a:cxnLst/>
            <a:rect l="l" t="t" r="r" b="b"/>
            <a:pathLst>
              <a:path w="7315200" h="2048256">
                <a:moveTo>
                  <a:pt x="0" y="0"/>
                </a:moveTo>
                <a:lnTo>
                  <a:pt x="7315200" y="0"/>
                </a:lnTo>
                <a:lnTo>
                  <a:pt x="7315200" y="2048256"/>
                </a:lnTo>
                <a:lnTo>
                  <a:pt x="0" y="20482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68990" y="1004593"/>
            <a:ext cx="13318455" cy="82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8"/>
              </a:lnSpc>
            </a:pPr>
            <a:r>
              <a:rPr lang="en-US" sz="4741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SOCIAL GAMES &amp; OVERALL EXPERIENCE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16079" y="3060514"/>
            <a:ext cx="8343096" cy="1916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1391" lvl="1" indent="-235696" algn="l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sz="218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FRIEND TRIVIA ALLOWS MEMBERS TO PREDICT ANSWERS ABOUT EACH OTHER AND RECEIVE SCORES.</a:t>
            </a:r>
          </a:p>
          <a:p>
            <a:pPr algn="l">
              <a:lnSpc>
                <a:spcPts val="3056"/>
              </a:lnSpc>
              <a:spcBef>
                <a:spcPct val="0"/>
              </a:spcBef>
            </a:pPr>
            <a:endParaRPr lang="en-US" sz="218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71391" lvl="1" indent="-235696" algn="l">
              <a:lnSpc>
                <a:spcPts val="3056"/>
              </a:lnSpc>
              <a:spcBef>
                <a:spcPct val="0"/>
              </a:spcBef>
              <a:buFont typeface="Arial"/>
              <a:buChar char="•"/>
            </a:pPr>
            <a:r>
              <a:rPr lang="en-US" sz="218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WOULD YOU RATHER ALLOWS MEMBERS TO CHOOSE BETWEEN TWO OPTIONS AND VIEW THE GROUP RESULTS.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3446" y="3070039"/>
            <a:ext cx="4988821" cy="4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6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545026" y="4058212"/>
            <a:ext cx="6099597" cy="132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4"/>
              </a:lnSpc>
            </a:pPr>
            <a:r>
              <a:rPr lang="en-US" sz="2517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The System also contains 2 small social games which can be accessed from the group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691965"/>
            <a:ext cx="13353479" cy="471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1104" lvl="1" indent="-415552" algn="l">
              <a:lnSpc>
                <a:spcPts val="5389"/>
              </a:lnSpc>
              <a:buFont typeface="Arial"/>
              <a:buChar char="•"/>
            </a:pPr>
            <a:r>
              <a:rPr lang="en-US" sz="3849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Different planning preferences can be specified, including budget, activity type, cuisine, location, and available time.</a:t>
            </a:r>
          </a:p>
          <a:p>
            <a:pPr marL="831104" lvl="1" indent="-415552" algn="l">
              <a:lnSpc>
                <a:spcPts val="5389"/>
              </a:lnSpc>
              <a:buFont typeface="Arial"/>
              <a:buChar char="•"/>
            </a:pPr>
            <a:r>
              <a:rPr lang="en-US" sz="3849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Possible hangout options are added or presented within the SideQuest session.</a:t>
            </a:r>
          </a:p>
          <a:p>
            <a:pPr algn="l">
              <a:lnSpc>
                <a:spcPts val="5389"/>
              </a:lnSpc>
            </a:pPr>
            <a:endParaRPr lang="en-US" sz="3849" b="1">
              <a:solidFill>
                <a:srgbClr val="333333"/>
              </a:solidFill>
              <a:latin typeface="Muli Bold"/>
              <a:ea typeface="Muli Bold"/>
              <a:cs typeface="Muli Bold"/>
              <a:sym typeface="Muli Bold"/>
            </a:endParaRPr>
          </a:p>
          <a:p>
            <a:pPr algn="l">
              <a:lnSpc>
                <a:spcPts val="5389"/>
              </a:lnSpc>
              <a:spcBef>
                <a:spcPct val="0"/>
              </a:spcBef>
            </a:pPr>
            <a:endParaRPr lang="en-US" sz="3849" b="1">
              <a:solidFill>
                <a:srgbClr val="333333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8" name="Freeform 8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968850" y="4592639"/>
            <a:ext cx="3764231" cy="4618688"/>
          </a:xfrm>
          <a:custGeom>
            <a:avLst/>
            <a:gdLst/>
            <a:ahLst/>
            <a:cxnLst/>
            <a:rect l="l" t="t" r="r" b="b"/>
            <a:pathLst>
              <a:path w="3764231" h="4618688">
                <a:moveTo>
                  <a:pt x="0" y="0"/>
                </a:moveTo>
                <a:lnTo>
                  <a:pt x="3764231" y="0"/>
                </a:lnTo>
                <a:lnTo>
                  <a:pt x="3764231" y="4618688"/>
                </a:lnTo>
                <a:lnTo>
                  <a:pt x="0" y="4618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746167" y="55537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6741303">
            <a:off x="1306528" y="5152905"/>
            <a:ext cx="4448432" cy="4114800"/>
          </a:xfrm>
          <a:custGeom>
            <a:avLst/>
            <a:gdLst/>
            <a:ahLst/>
            <a:cxnLst/>
            <a:rect l="l" t="t" r="r" b="b"/>
            <a:pathLst>
              <a:path w="4448432" h="4114800">
                <a:moveTo>
                  <a:pt x="0" y="0"/>
                </a:moveTo>
                <a:lnTo>
                  <a:pt x="4448432" y="0"/>
                </a:lnTo>
                <a:lnTo>
                  <a:pt x="44484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00820" y="337828"/>
            <a:ext cx="11435483" cy="122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PREFERNCES &amp; VOTING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98483" y="5675375"/>
            <a:ext cx="6304514" cy="332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4"/>
              </a:lnSpc>
            </a:pPr>
            <a:endParaRPr/>
          </a:p>
          <a:p>
            <a:pPr marL="586692" lvl="1" indent="-293346" algn="l">
              <a:lnSpc>
                <a:spcPts val="3804"/>
              </a:lnSpc>
              <a:buFont typeface="Arial"/>
              <a:buChar char="•"/>
            </a:pPr>
            <a:r>
              <a:rPr lang="en-US" sz="2717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Group members can vote for their preferred choices.</a:t>
            </a:r>
          </a:p>
          <a:p>
            <a:pPr marL="586692" lvl="1" indent="-293346" algn="l">
              <a:lnSpc>
                <a:spcPts val="3804"/>
              </a:lnSpc>
              <a:buFont typeface="Arial"/>
              <a:buChar char="•"/>
            </a:pPr>
            <a:r>
              <a:rPr lang="en-US" sz="2717" b="1">
                <a:solidFill>
                  <a:srgbClr val="333333"/>
                </a:solidFill>
                <a:latin typeface="Muli Bold"/>
                <a:ea typeface="Muli Bold"/>
                <a:cs typeface="Muli Bold"/>
                <a:sym typeface="Muli Bold"/>
              </a:rPr>
              <a:t>The voting process helps the group narrow down options and reach a final decision.</a:t>
            </a:r>
          </a:p>
          <a:p>
            <a:pPr algn="l">
              <a:lnSpc>
                <a:spcPts val="3804"/>
              </a:lnSpc>
              <a:spcBef>
                <a:spcPct val="0"/>
              </a:spcBef>
            </a:pPr>
            <a:endParaRPr lang="en-US" sz="2717" b="1">
              <a:solidFill>
                <a:srgbClr val="333333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94869" y="63566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 flipV="1">
            <a:off x="14325219" y="-184491"/>
            <a:ext cx="3867912" cy="4114800"/>
          </a:xfrm>
          <a:custGeom>
            <a:avLst/>
            <a:gdLst/>
            <a:ahLst/>
            <a:cxnLst/>
            <a:rect l="l" t="t" r="r" b="b"/>
            <a:pathLst>
              <a:path w="3867912" h="4114800">
                <a:moveTo>
                  <a:pt x="386791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867912" y="0"/>
                </a:lnTo>
                <a:lnTo>
                  <a:pt x="386791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8" name="Freeform 8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74329" y="1511604"/>
            <a:ext cx="12494670" cy="7746696"/>
          </a:xfrm>
          <a:custGeom>
            <a:avLst/>
            <a:gdLst/>
            <a:ahLst/>
            <a:cxnLst/>
            <a:rect l="l" t="t" r="r" b="b"/>
            <a:pathLst>
              <a:path w="12494670" h="7746696">
                <a:moveTo>
                  <a:pt x="0" y="0"/>
                </a:moveTo>
                <a:lnTo>
                  <a:pt x="12494670" y="0"/>
                </a:lnTo>
                <a:lnTo>
                  <a:pt x="12494670" y="7746696"/>
                </a:lnTo>
                <a:lnTo>
                  <a:pt x="0" y="77466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8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259175" y="6367223"/>
            <a:ext cx="1839943" cy="1978434"/>
          </a:xfrm>
          <a:custGeom>
            <a:avLst/>
            <a:gdLst/>
            <a:ahLst/>
            <a:cxnLst/>
            <a:rect l="l" t="t" r="r" b="b"/>
            <a:pathLst>
              <a:path w="1839943" h="1978434">
                <a:moveTo>
                  <a:pt x="0" y="0"/>
                </a:moveTo>
                <a:lnTo>
                  <a:pt x="1839943" y="0"/>
                </a:lnTo>
                <a:lnTo>
                  <a:pt x="1839943" y="1978433"/>
                </a:lnTo>
                <a:lnTo>
                  <a:pt x="0" y="1978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6299214">
            <a:off x="1262787" y="208707"/>
            <a:ext cx="1858614" cy="1858614"/>
          </a:xfrm>
          <a:custGeom>
            <a:avLst/>
            <a:gdLst/>
            <a:ahLst/>
            <a:cxnLst/>
            <a:rect l="l" t="t" r="r" b="b"/>
            <a:pathLst>
              <a:path w="1858614" h="1858614">
                <a:moveTo>
                  <a:pt x="0" y="0"/>
                </a:moveTo>
                <a:lnTo>
                  <a:pt x="1858615" y="0"/>
                </a:lnTo>
                <a:lnTo>
                  <a:pt x="1858615" y="1858614"/>
                </a:lnTo>
                <a:lnTo>
                  <a:pt x="0" y="185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 rot="-300000">
            <a:off x="3713698" y="3497884"/>
            <a:ext cx="10475720" cy="4399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559" lvl="1" indent="-246779" algn="l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6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THE SELECTED ACTIVITIES AND OPTIONS ARE COMBINED INTO AN ORGANIZED FINAL HANGOUT PLAN.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86" b="1">
              <a:solidFill>
                <a:srgbClr val="171717"/>
              </a:solidFill>
              <a:latin typeface="Muli Bold"/>
              <a:ea typeface="Muli Bold"/>
              <a:cs typeface="Muli Bold"/>
              <a:sym typeface="Muli Bold"/>
            </a:endParaRPr>
          </a:p>
          <a:p>
            <a:pPr marL="493559" lvl="1" indent="-246779" algn="l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6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THE FINAL PLAN CONTAINS THE ACTIVITIES, LOCATIONS, DATE, TIME, PARTICIPANTS, AND ESTIMATED BUDGET.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86" b="1">
              <a:solidFill>
                <a:srgbClr val="171717"/>
              </a:solidFill>
              <a:latin typeface="Muli Bold"/>
              <a:ea typeface="Muli Bold"/>
              <a:cs typeface="Muli Bold"/>
              <a:sym typeface="Muli Bold"/>
            </a:endParaRPr>
          </a:p>
          <a:p>
            <a:pPr marL="493559" lvl="1" indent="-246779" algn="l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6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PREVIOUS SIDEQUEST PLANS ARE MAINTAINED FOR FUTURE REFERENCE.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86" b="1">
              <a:solidFill>
                <a:srgbClr val="171717"/>
              </a:solidFill>
              <a:latin typeface="Muli Bold"/>
              <a:ea typeface="Muli Bold"/>
              <a:cs typeface="Muli Bold"/>
              <a:sym typeface="Muli Bold"/>
            </a:endParaRPr>
          </a:p>
          <a:p>
            <a:pPr marL="493559" lvl="1" indent="-246779" algn="l">
              <a:lnSpc>
                <a:spcPts val="3200"/>
              </a:lnSpc>
              <a:spcBef>
                <a:spcPct val="0"/>
              </a:spcBef>
              <a:buFont typeface="Arial"/>
              <a:buChar char="•"/>
            </a:pPr>
            <a:r>
              <a:rPr lang="en-US" sz="2286" b="1">
                <a:solidFill>
                  <a:srgbClr val="171717"/>
                </a:solidFill>
                <a:latin typeface="Muli Bold"/>
                <a:ea typeface="Muli Bold"/>
                <a:cs typeface="Muli Bold"/>
                <a:sym typeface="Muli Bold"/>
              </a:rPr>
              <a:t>THIS ALLOWS THE GROUP TO MOVE FROM INITIAL DISCUSSION TO A CLEAR FINAL PLAN.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74329" y="282260"/>
            <a:ext cx="11435483" cy="122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FINAL HANGOUT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2681" t="-8434" r="-5731" b="-11819"/>
            </a:stretch>
          </a:blipFill>
        </p:spPr>
      </p:sp>
      <p:sp>
        <p:nvSpPr>
          <p:cNvPr id="3" name="Freeform 3"/>
          <p:cNvSpPr/>
          <p:nvPr/>
        </p:nvSpPr>
        <p:spPr>
          <a:xfrm rot="-1708767">
            <a:off x="13197237" y="79963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0" y="0"/>
                </a:moveTo>
                <a:lnTo>
                  <a:pt x="6878845" y="0"/>
                </a:lnTo>
                <a:lnTo>
                  <a:pt x="68788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8767" flipH="1" flipV="1">
            <a:off x="-1788082" y="-1824174"/>
            <a:ext cx="6878845" cy="4114800"/>
          </a:xfrm>
          <a:custGeom>
            <a:avLst/>
            <a:gdLst/>
            <a:ahLst/>
            <a:cxnLst/>
            <a:rect l="l" t="t" r="r" b="b"/>
            <a:pathLst>
              <a:path w="6878845" h="4114800">
                <a:moveTo>
                  <a:pt x="687884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78845" y="0"/>
                </a:lnTo>
                <a:lnTo>
                  <a:pt x="687884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26259" y="4101826"/>
            <a:ext cx="11435483" cy="209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92"/>
              </a:lnSpc>
            </a:pPr>
            <a:r>
              <a:rPr lang="en-US" sz="12209" b="1">
                <a:solidFill>
                  <a:srgbClr val="333333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105177" y="6023399"/>
            <a:ext cx="4190896" cy="4458400"/>
          </a:xfrm>
          <a:custGeom>
            <a:avLst/>
            <a:gdLst/>
            <a:ahLst/>
            <a:cxnLst/>
            <a:rect l="l" t="t" r="r" b="b"/>
            <a:pathLst>
              <a:path w="4190896" h="4458400">
                <a:moveTo>
                  <a:pt x="0" y="0"/>
                </a:moveTo>
                <a:lnTo>
                  <a:pt x="4190896" y="0"/>
                </a:lnTo>
                <a:lnTo>
                  <a:pt x="4190896" y="4458400"/>
                </a:lnTo>
                <a:lnTo>
                  <a:pt x="0" y="4458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 flipV="1">
            <a:off x="13994197" y="-194729"/>
            <a:ext cx="4188696" cy="4456059"/>
          </a:xfrm>
          <a:custGeom>
            <a:avLst/>
            <a:gdLst/>
            <a:ahLst/>
            <a:cxnLst/>
            <a:rect l="l" t="t" r="r" b="b"/>
            <a:pathLst>
              <a:path w="4188696" h="4456059">
                <a:moveTo>
                  <a:pt x="4188696" y="4456060"/>
                </a:moveTo>
                <a:lnTo>
                  <a:pt x="0" y="4456060"/>
                </a:lnTo>
                <a:lnTo>
                  <a:pt x="0" y="0"/>
                </a:lnTo>
                <a:lnTo>
                  <a:pt x="4188696" y="0"/>
                </a:lnTo>
                <a:lnTo>
                  <a:pt x="4188696" y="44560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445081" y="6404313"/>
            <a:ext cx="19178162" cy="3882687"/>
            <a:chOff x="0" y="0"/>
            <a:chExt cx="25570883" cy="5176916"/>
          </a:xfrm>
        </p:grpSpPr>
        <p:sp>
          <p:nvSpPr>
            <p:cNvPr id="9" name="Freeform 9"/>
            <p:cNvSpPr/>
            <p:nvPr/>
          </p:nvSpPr>
          <p:spPr>
            <a:xfrm>
              <a:off x="317633" y="0"/>
              <a:ext cx="25253250" cy="5176916"/>
            </a:xfrm>
            <a:custGeom>
              <a:avLst/>
              <a:gdLst/>
              <a:ahLst/>
              <a:cxnLst/>
              <a:rect l="l" t="t" r="r" b="b"/>
              <a:pathLst>
                <a:path w="25253250" h="5176916">
                  <a:moveTo>
                    <a:pt x="0" y="0"/>
                  </a:moveTo>
                  <a:lnTo>
                    <a:pt x="25253250" y="0"/>
                  </a:lnTo>
                  <a:lnTo>
                    <a:pt x="25253250" y="5176916"/>
                  </a:lnTo>
                  <a:lnTo>
                    <a:pt x="0" y="5176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3315825" y="4112374"/>
              <a:ext cx="2747169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ZARIFA RAHMAN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5494" y="4112374"/>
              <a:ext cx="3051969" cy="417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5"/>
                </a:lnSpc>
                <a:spcBef>
                  <a:spcPct val="0"/>
                </a:spcBef>
              </a:pPr>
              <a:r>
                <a:rPr lang="en-US" sz="1918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TAZREAN TASNEEM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5926" y="4112374"/>
              <a:ext cx="6861711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TAHMIDATUL AYESHA ASHA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57637" y="4112374"/>
              <a:ext cx="2590800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SOUMIK SIKDER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94715" y="4135613"/>
              <a:ext cx="2799556" cy="440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5"/>
                </a:lnSpc>
                <a:spcBef>
                  <a:spcPct val="0"/>
                </a:spcBef>
              </a:pPr>
              <a:r>
                <a:rPr lang="en-US" sz="1982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TANZIM AHAMAD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082666"/>
              <a:ext cx="3315825" cy="493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 b="1">
                  <a:solidFill>
                    <a:srgbClr val="FFFFFF"/>
                  </a:solidFill>
                  <a:latin typeface="Maven Pro Bold"/>
                  <a:ea typeface="Maven Pro Bold"/>
                  <a:cs typeface="Maven Pro Bold"/>
                  <a:sym typeface="Maven Pro Bold"/>
                </a:rPr>
                <a:t>Group 02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rot="-1801950">
            <a:off x="8740078" y="3203942"/>
            <a:ext cx="8473223" cy="8346124"/>
          </a:xfrm>
          <a:custGeom>
            <a:avLst/>
            <a:gdLst/>
            <a:ahLst/>
            <a:cxnLst/>
            <a:rect l="l" t="t" r="r" b="b"/>
            <a:pathLst>
              <a:path w="8473223" h="8346124">
                <a:moveTo>
                  <a:pt x="0" y="0"/>
                </a:moveTo>
                <a:lnTo>
                  <a:pt x="8473222" y="0"/>
                </a:lnTo>
                <a:lnTo>
                  <a:pt x="8473222" y="8346124"/>
                </a:lnTo>
                <a:lnTo>
                  <a:pt x="0" y="8346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562</Words>
  <Application>Microsoft Office PowerPoint</Application>
  <PresentationFormat>Custom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Bernoru</vt:lpstr>
      <vt:lpstr>Muli Bold</vt:lpstr>
      <vt:lpstr>Arial</vt:lpstr>
      <vt:lpstr>Comic Sans Bold</vt:lpstr>
      <vt:lpstr>Poppins Bold</vt:lpstr>
      <vt:lpstr>Gliker</vt:lpstr>
      <vt:lpstr>Glacial Indifference</vt:lpstr>
      <vt:lpstr>Maven Pro Bold</vt:lpstr>
      <vt:lpstr>Calibri</vt:lpstr>
      <vt:lpstr>Glacial Indifference Bold</vt:lpstr>
      <vt:lpstr>Mulled Wine Season</vt:lpstr>
      <vt:lpstr>Comic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SideQuest</dc:title>
  <dc:creator>User</dc:creator>
  <cp:lastModifiedBy>User</cp:lastModifiedBy>
  <cp:revision>2</cp:revision>
  <dcterms:created xsi:type="dcterms:W3CDTF">2006-08-16T00:00:00Z</dcterms:created>
  <dcterms:modified xsi:type="dcterms:W3CDTF">2026-10-04T18:39:11Z</dcterms:modified>
  <dc:identifier>DAHXC65ts78</dc:identifier>
</cp:coreProperties>
</file>