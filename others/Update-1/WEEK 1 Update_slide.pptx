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1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8288000" cy="10287000"/>
  <p:notesSz cx="6858000" cy="9144000"/>
  <p:embeddedFontLst>
    <p:embeddedFont>
      <p:font typeface="Maven Pro Bold" panose="00000800000000000000"/>
      <p:bold r:id="rId27"/>
    </p:embeddedFont>
    <p:embeddedFont>
      <p:font typeface="Muli Bold" panose="00000800000000000000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.png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.png"/><Relationship Id="rId7" Type="http://schemas.openxmlformats.org/officeDocument/2006/relationships/image" Target="../media/image6.svg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13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.svg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8.png"/><Relationship Id="rId3" Type="http://schemas.openxmlformats.org/officeDocument/2006/relationships/image" Target="../media/image4.svg"/><Relationship Id="rId2" Type="http://schemas.openxmlformats.org/officeDocument/2006/relationships/image" Target="../media/image13.pn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>
            <a:off x="105177" y="6023399"/>
            <a:ext cx="4190896" cy="4458400"/>
          </a:xfrm>
          <a:custGeom>
            <a:avLst/>
            <a:gdLst/>
            <a:ahLst/>
            <a:cxnLst/>
            <a:rect l="l" t="t" r="r" b="b"/>
            <a:pathLst>
              <a:path w="4190896" h="4458400">
                <a:moveTo>
                  <a:pt x="0" y="0"/>
                </a:moveTo>
                <a:lnTo>
                  <a:pt x="4190896" y="0"/>
                </a:lnTo>
                <a:lnTo>
                  <a:pt x="4190896" y="4458400"/>
                </a:lnTo>
                <a:lnTo>
                  <a:pt x="0" y="4458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3994197" y="-194729"/>
            <a:ext cx="4188696" cy="4456059"/>
          </a:xfrm>
          <a:custGeom>
            <a:avLst/>
            <a:gdLst/>
            <a:ahLst/>
            <a:cxnLst/>
            <a:rect l="l" t="t" r="r" b="b"/>
            <a:pathLst>
              <a:path w="4188696" h="4456059">
                <a:moveTo>
                  <a:pt x="4188696" y="4456060"/>
                </a:moveTo>
                <a:lnTo>
                  <a:pt x="0" y="4456060"/>
                </a:lnTo>
                <a:lnTo>
                  <a:pt x="0" y="0"/>
                </a:lnTo>
                <a:lnTo>
                  <a:pt x="4188696" y="0"/>
                </a:lnTo>
                <a:lnTo>
                  <a:pt x="4188696" y="445606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588571" y="2517568"/>
            <a:ext cx="11435483" cy="209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90"/>
              </a:lnSpc>
            </a:pPr>
            <a:r>
              <a:rPr lang="en-US" sz="12210" b="1">
                <a:solidFill>
                  <a:srgbClr val="333333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SIDEQUEST</a:t>
            </a:r>
            <a:endParaRPr lang="en-US" sz="12210" b="1">
              <a:solidFill>
                <a:srgbClr val="333333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7789" y="4719499"/>
            <a:ext cx="10130552" cy="2431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5"/>
              </a:lnSpc>
            </a:pPr>
          </a:p>
          <a:p>
            <a:pPr algn="ctr">
              <a:lnSpc>
                <a:spcPts val="4825"/>
              </a:lnSpc>
            </a:pPr>
            <a:r>
              <a:rPr lang="en-US" sz="3445" b="1">
                <a:solidFill>
                  <a:srgbClr val="171717"/>
                </a:solidFill>
                <a:latin typeface="Muli Bold" panose="00000800000000000000"/>
                <a:ea typeface="Muli Bold" panose="00000800000000000000"/>
                <a:cs typeface="Muli Bold" panose="00000800000000000000"/>
                <a:sym typeface="Muli Bold" panose="00000800000000000000"/>
              </a:rPr>
              <a:t>What we learned • Why we chose the tools • What we built • What comes next</a:t>
            </a:r>
            <a:endParaRPr lang="en-US" sz="3445" b="1">
              <a:solidFill>
                <a:srgbClr val="171717"/>
              </a:solidFill>
              <a:latin typeface="Muli Bold" panose="00000800000000000000"/>
              <a:ea typeface="Muli Bold" panose="00000800000000000000"/>
              <a:cs typeface="Muli Bold" panose="00000800000000000000"/>
              <a:sym typeface="Muli Bold" panose="00000800000000000000"/>
            </a:endParaRPr>
          </a:p>
          <a:p>
            <a:pPr algn="ctr">
              <a:lnSpc>
                <a:spcPts val="4825"/>
              </a:lnSpc>
            </a:pPr>
          </a:p>
        </p:txBody>
      </p:sp>
      <p:grpSp>
        <p:nvGrpSpPr>
          <p:cNvPr id="9" name="Group 9"/>
          <p:cNvGrpSpPr/>
          <p:nvPr/>
        </p:nvGrpSpPr>
        <p:grpSpPr>
          <a:xfrm rot="0">
            <a:off x="-445081" y="6404313"/>
            <a:ext cx="19178162" cy="3882687"/>
            <a:chOff x="0" y="0"/>
            <a:chExt cx="25570883" cy="5176916"/>
          </a:xfrm>
        </p:grpSpPr>
        <p:sp>
          <p:nvSpPr>
            <p:cNvPr id="10" name="Freeform 10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515600" y="4792345"/>
            <a:ext cx="6309995" cy="933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1">
                <a:solidFill>
                  <a:srgbClr val="333333"/>
                </a:solidFill>
                <a:latin typeface="Glacial Indifference Bold" panose="00000800000000000000"/>
                <a:ea typeface="Glacial Indifference Bold" panose="00000800000000000000"/>
                <a:cs typeface="Glacial Indifference Bold" panose="00000800000000000000"/>
                <a:sym typeface="Glacial Indifference Bold" panose="00000800000000000000"/>
              </a:rPr>
              <a:t>Project Proposal</a:t>
            </a:r>
            <a:endParaRPr lang="en-US" sz="5200" b="1">
              <a:solidFill>
                <a:srgbClr val="333333"/>
              </a:solidFill>
              <a:latin typeface="Glacial Indifference Bold" panose="00000800000000000000"/>
              <a:ea typeface="Glacial Indifference Bold" panose="00000800000000000000"/>
              <a:cs typeface="Glacial Indifference Bold" panose="00000800000000000000"/>
              <a:sym typeface="Glacial Indifference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515600" y="6040755"/>
            <a:ext cx="4178935" cy="610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Faculty Advisor</a:t>
            </a:r>
            <a:endParaRPr lang="en-US" sz="34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39238" y="481996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10896600" y="6896100"/>
            <a:ext cx="5857875" cy="11239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115"/>
              </a:lnSpc>
            </a:pPr>
            <a:r>
              <a:rPr lang="en-US" sz="2940" b="1">
                <a:solidFill>
                  <a:srgbClr val="000000"/>
                </a:solidFill>
                <a:latin typeface="Glacial Indifference Bold" panose="00000800000000000000"/>
                <a:ea typeface="Glacial Indifference Bold" panose="00000800000000000000"/>
                <a:cs typeface="Glacial Indifference Bold" panose="00000800000000000000"/>
                <a:sym typeface="Glacial Indifference Bold" panose="00000800000000000000"/>
              </a:rPr>
              <a:t>Dr.Mohammad Shifat-E-Rabbi</a:t>
            </a:r>
            <a:endParaRPr lang="en-US" sz="2940" b="1">
              <a:solidFill>
                <a:srgbClr val="000000"/>
              </a:solidFill>
              <a:latin typeface="Glacial Indifference Bold" panose="00000800000000000000"/>
              <a:ea typeface="Glacial Indifference Bold" panose="00000800000000000000"/>
              <a:cs typeface="Glacial Indifference Bold" panose="00000800000000000000"/>
              <a:sym typeface="Glacial Indifference Bold" panose="00000800000000000000"/>
            </a:endParaRPr>
          </a:p>
        </p:txBody>
      </p:sp>
      <p:grpSp>
        <p:nvGrpSpPr>
          <p:cNvPr id="21" name="Group 21"/>
          <p:cNvGrpSpPr/>
          <p:nvPr/>
        </p:nvGrpSpPr>
        <p:grpSpPr>
          <a:xfrm rot="0">
            <a:off x="-445081" y="-2853987"/>
            <a:ext cx="19178162" cy="3882687"/>
            <a:chOff x="0" y="0"/>
            <a:chExt cx="25570883" cy="5176916"/>
          </a:xfrm>
        </p:grpSpPr>
        <p:sp>
          <p:nvSpPr>
            <p:cNvPr id="22" name="Freeform 22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4082666"/>
              <a:ext cx="3315825" cy="1014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CSE299.3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393225" y="185601"/>
            <a:ext cx="2486869" cy="38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Group 02</a:t>
            </a:r>
            <a:endParaRPr lang="en-US" sz="2200" b="1">
              <a:solidFill>
                <a:srgbClr val="FFFFFF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575272" y="185601"/>
            <a:ext cx="2486869" cy="38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FALL 2026/NSU</a:t>
            </a:r>
            <a:endParaRPr lang="en-US" sz="2200" b="1">
              <a:solidFill>
                <a:srgbClr val="FFFFFF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93022" y="6481833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508911" y="-747229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445081" y="6493788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840934" y="803241"/>
            <a:ext cx="9970112" cy="362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4270" b="1">
                <a:solidFill>
                  <a:srgbClr val="333333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WHY WE CHOSE FLUTTER &amp; DART — AND WHAT WE LEARNED</a:t>
            </a:r>
            <a:endParaRPr lang="en-US" sz="4270" b="1">
              <a:solidFill>
                <a:srgbClr val="333333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ctr">
              <a:lnSpc>
                <a:spcPts val="8665"/>
              </a:lnSpc>
            </a:pPr>
          </a:p>
          <a:p>
            <a:pPr algn="ctr">
              <a:lnSpc>
                <a:spcPts val="8420"/>
              </a:lnSpc>
            </a:pPr>
          </a:p>
        </p:txBody>
      </p:sp>
      <p:grpSp>
        <p:nvGrpSpPr>
          <p:cNvPr id="14" name="Group 14"/>
          <p:cNvGrpSpPr/>
          <p:nvPr/>
        </p:nvGrpSpPr>
        <p:grpSpPr>
          <a:xfrm rot="0">
            <a:off x="1701101" y="3013509"/>
            <a:ext cx="14938846" cy="5251000"/>
            <a:chOff x="0" y="0"/>
            <a:chExt cx="3934511" cy="13829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34511" cy="1382979"/>
            </a:xfrm>
            <a:custGeom>
              <a:avLst/>
              <a:gdLst/>
              <a:ahLst/>
              <a:cxnLst/>
              <a:rect l="l" t="t" r="r" b="b"/>
              <a:pathLst>
                <a:path w="3934511" h="1382979">
                  <a:moveTo>
                    <a:pt x="20730" y="0"/>
                  </a:moveTo>
                  <a:lnTo>
                    <a:pt x="3913781" y="0"/>
                  </a:lnTo>
                  <a:cubicBezTo>
                    <a:pt x="3919279" y="0"/>
                    <a:pt x="3924552" y="2184"/>
                    <a:pt x="3928439" y="6072"/>
                  </a:cubicBezTo>
                  <a:cubicBezTo>
                    <a:pt x="3932327" y="9959"/>
                    <a:pt x="3934511" y="15232"/>
                    <a:pt x="3934511" y="20730"/>
                  </a:cubicBezTo>
                  <a:lnTo>
                    <a:pt x="3934511" y="1362250"/>
                  </a:lnTo>
                  <a:cubicBezTo>
                    <a:pt x="3934511" y="1367748"/>
                    <a:pt x="3932327" y="1373020"/>
                    <a:pt x="3928439" y="1376908"/>
                  </a:cubicBezTo>
                  <a:cubicBezTo>
                    <a:pt x="3924552" y="1380795"/>
                    <a:pt x="3919279" y="1382979"/>
                    <a:pt x="3913781" y="1382979"/>
                  </a:cubicBezTo>
                  <a:lnTo>
                    <a:pt x="20730" y="1382979"/>
                  </a:lnTo>
                  <a:cubicBezTo>
                    <a:pt x="15232" y="1382979"/>
                    <a:pt x="9959" y="1380795"/>
                    <a:pt x="6072" y="1376908"/>
                  </a:cubicBezTo>
                  <a:cubicBezTo>
                    <a:pt x="2184" y="1373020"/>
                    <a:pt x="0" y="1367748"/>
                    <a:pt x="0" y="1362250"/>
                  </a:cubicBezTo>
                  <a:lnTo>
                    <a:pt x="0" y="20730"/>
                  </a:lnTo>
                  <a:cubicBezTo>
                    <a:pt x="0" y="15232"/>
                    <a:pt x="2184" y="9959"/>
                    <a:pt x="6072" y="6072"/>
                  </a:cubicBezTo>
                  <a:cubicBezTo>
                    <a:pt x="9959" y="2184"/>
                    <a:pt x="15232" y="0"/>
                    <a:pt x="20730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934511" cy="1430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243435" y="3699958"/>
            <a:ext cx="13774473" cy="4024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5"/>
              </a:lnSpc>
              <a:spcBef>
                <a:spcPct val="0"/>
              </a:spcBef>
            </a:pPr>
            <a:r>
              <a:rPr lang="en-US" sz="2875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FLUTTER</a:t>
            </a:r>
            <a:endParaRPr lang="en-US" sz="2875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l">
              <a:lnSpc>
                <a:spcPts val="4025"/>
              </a:lnSpc>
              <a:spcBef>
                <a:spcPct val="0"/>
              </a:spcBef>
            </a:pPr>
            <a:r>
              <a:rPr lang="en-US" sz="2875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• ONE CODEBASE CAN SUPPORT ANDROID AND IOS.</a:t>
            </a:r>
            <a:endParaRPr lang="en-US" sz="2875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l">
              <a:lnSpc>
                <a:spcPts val="4025"/>
              </a:lnSpc>
              <a:spcBef>
                <a:spcPct val="0"/>
              </a:spcBef>
            </a:pPr>
            <a:r>
              <a:rPr lang="en-US" sz="2875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• READY-MADE, CUSTOMIZABLE WIDGETS HELP BUILD CONSISTENT SCREENS.</a:t>
            </a:r>
            <a:endParaRPr lang="en-US" sz="2875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l">
              <a:lnSpc>
                <a:spcPts val="4025"/>
              </a:lnSpc>
              <a:spcBef>
                <a:spcPct val="0"/>
              </a:spcBef>
            </a:pPr>
            <a:r>
              <a:rPr lang="en-US" sz="2875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• HOT RELOAD HELPS US SEE UI CHANGES QUICKLY.</a:t>
            </a:r>
            <a:endParaRPr lang="en-US" sz="2875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l">
              <a:lnSpc>
                <a:spcPts val="4025"/>
              </a:lnSpc>
              <a:spcBef>
                <a:spcPct val="0"/>
              </a:spcBef>
            </a:pPr>
          </a:p>
          <a:p>
            <a:pPr algn="l">
              <a:lnSpc>
                <a:spcPts val="4025"/>
              </a:lnSpc>
              <a:spcBef>
                <a:spcPct val="0"/>
              </a:spcBef>
            </a:pPr>
            <a:r>
              <a:rPr lang="en-US" sz="2875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DART</a:t>
            </a:r>
            <a:endParaRPr lang="en-US" sz="2875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l">
              <a:lnSpc>
                <a:spcPts val="4025"/>
              </a:lnSpc>
              <a:spcBef>
                <a:spcPct val="0"/>
              </a:spcBef>
            </a:pPr>
            <a:r>
              <a:rPr lang="en-US" sz="2875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• IT IS FLUTTER’S MAIN PROGRAMMING LANGUAGE.</a:t>
            </a:r>
            <a:endParaRPr lang="en-US" sz="2875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l">
              <a:lnSpc>
                <a:spcPts val="4025"/>
              </a:lnSpc>
              <a:spcBef>
                <a:spcPct val="0"/>
              </a:spcBef>
            </a:pPr>
            <a:r>
              <a:rPr lang="en-US" sz="2875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• IT SUPPORTS THE LOGIC BEHIND FORMS, NAVIGATION, AND INTERACTIONS.</a:t>
            </a:r>
            <a:endParaRPr lang="en-US" sz="2875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93022" y="6481833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508911" y="-747229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445081" y="6493788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356880"/>
            <a:ext cx="7904855" cy="2887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0"/>
              </a:lnSpc>
            </a:pPr>
            <a:r>
              <a:rPr lang="en-US" sz="3385" b="1">
                <a:solidFill>
                  <a:srgbClr val="333333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WHY WE CHOSE FLUTTER &amp; DART — AND WHAT WE LEARNED</a:t>
            </a:r>
            <a:endParaRPr lang="en-US" sz="3385" b="1">
              <a:solidFill>
                <a:srgbClr val="333333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ctr">
              <a:lnSpc>
                <a:spcPts val="6870"/>
              </a:lnSpc>
            </a:pPr>
          </a:p>
          <a:p>
            <a:pPr algn="ctr">
              <a:lnSpc>
                <a:spcPts val="6680"/>
              </a:lnSpc>
            </a:pPr>
          </a:p>
        </p:txBody>
      </p:sp>
      <p:grpSp>
        <p:nvGrpSpPr>
          <p:cNvPr id="14" name="Group 14"/>
          <p:cNvGrpSpPr/>
          <p:nvPr/>
        </p:nvGrpSpPr>
        <p:grpSpPr>
          <a:xfrm rot="0">
            <a:off x="1701101" y="3013509"/>
            <a:ext cx="14938846" cy="5251000"/>
            <a:chOff x="0" y="0"/>
            <a:chExt cx="3934511" cy="13829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34511" cy="1382979"/>
            </a:xfrm>
            <a:custGeom>
              <a:avLst/>
              <a:gdLst/>
              <a:ahLst/>
              <a:cxnLst/>
              <a:rect l="l" t="t" r="r" b="b"/>
              <a:pathLst>
                <a:path w="3934511" h="1382979">
                  <a:moveTo>
                    <a:pt x="20730" y="0"/>
                  </a:moveTo>
                  <a:lnTo>
                    <a:pt x="3913781" y="0"/>
                  </a:lnTo>
                  <a:cubicBezTo>
                    <a:pt x="3919279" y="0"/>
                    <a:pt x="3924552" y="2184"/>
                    <a:pt x="3928439" y="6072"/>
                  </a:cubicBezTo>
                  <a:cubicBezTo>
                    <a:pt x="3932327" y="9959"/>
                    <a:pt x="3934511" y="15232"/>
                    <a:pt x="3934511" y="20730"/>
                  </a:cubicBezTo>
                  <a:lnTo>
                    <a:pt x="3934511" y="1362250"/>
                  </a:lnTo>
                  <a:cubicBezTo>
                    <a:pt x="3934511" y="1367748"/>
                    <a:pt x="3932327" y="1373020"/>
                    <a:pt x="3928439" y="1376908"/>
                  </a:cubicBezTo>
                  <a:cubicBezTo>
                    <a:pt x="3924552" y="1380795"/>
                    <a:pt x="3919279" y="1382979"/>
                    <a:pt x="3913781" y="1382979"/>
                  </a:cubicBezTo>
                  <a:lnTo>
                    <a:pt x="20730" y="1382979"/>
                  </a:lnTo>
                  <a:cubicBezTo>
                    <a:pt x="15232" y="1382979"/>
                    <a:pt x="9959" y="1380795"/>
                    <a:pt x="6072" y="1376908"/>
                  </a:cubicBezTo>
                  <a:cubicBezTo>
                    <a:pt x="2184" y="1373020"/>
                    <a:pt x="0" y="1367748"/>
                    <a:pt x="0" y="1362250"/>
                  </a:cubicBezTo>
                  <a:lnTo>
                    <a:pt x="0" y="20730"/>
                  </a:lnTo>
                  <a:cubicBezTo>
                    <a:pt x="0" y="15232"/>
                    <a:pt x="2184" y="9959"/>
                    <a:pt x="6072" y="6072"/>
                  </a:cubicBezTo>
                  <a:cubicBezTo>
                    <a:pt x="9959" y="2184"/>
                    <a:pt x="15232" y="0"/>
                    <a:pt x="20730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934511" cy="1430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105665" y="3758322"/>
            <a:ext cx="13917454" cy="3367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5"/>
              </a:lnSpc>
              <a:spcBef>
                <a:spcPct val="0"/>
              </a:spcBef>
            </a:pPr>
            <a:r>
              <a:rPr lang="en-US" sz="3180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• FLUTTER WIDGETS BUILD THE VISIBLE INTERFACE.</a:t>
            </a:r>
            <a:endParaRPr lang="en-US" sz="3180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l">
              <a:lnSpc>
                <a:spcPts val="4455"/>
              </a:lnSpc>
              <a:spcBef>
                <a:spcPct val="0"/>
              </a:spcBef>
            </a:pPr>
            <a:r>
              <a:rPr lang="en-US" sz="3180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• DART VARIABLES, CLASSES, AND FUNCTIONS CONTROL BEHAVIOUR.</a:t>
            </a:r>
            <a:endParaRPr lang="en-US" sz="3180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l">
              <a:lnSpc>
                <a:spcPts val="4455"/>
              </a:lnSpc>
              <a:spcBef>
                <a:spcPct val="0"/>
              </a:spcBef>
            </a:pPr>
            <a:r>
              <a:rPr lang="en-US" sz="3180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• SETSTATE() REFRESHES THE UI AFTER LOCAL STATE CHANGES.</a:t>
            </a:r>
            <a:endParaRPr lang="en-US" sz="3180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l">
              <a:lnSpc>
                <a:spcPts val="4455"/>
              </a:lnSpc>
              <a:spcBef>
                <a:spcPct val="0"/>
              </a:spcBef>
            </a:pPr>
            <a:r>
              <a:rPr lang="en-US" sz="3180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• VALIDATORS CHECK FORM INPUT BEFORE NAVIGATION.</a:t>
            </a:r>
            <a:endParaRPr lang="en-US" sz="3180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l">
              <a:lnSpc>
                <a:spcPts val="4455"/>
              </a:lnSpc>
              <a:spcBef>
                <a:spcPct val="0"/>
              </a:spcBef>
            </a:pPr>
            <a:r>
              <a:rPr lang="en-US" sz="3180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• NAVIGATOR CONNECTS SCREENS SUCH AS SPLASH → LOGIN → HOME.</a:t>
            </a:r>
            <a:endParaRPr lang="en-US" sz="3180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l">
              <a:lnSpc>
                <a:spcPts val="4455"/>
              </a:lnSpc>
              <a:spcBef>
                <a:spcPct val="0"/>
              </a:spcBef>
            </a:pPr>
            <a:r>
              <a:rPr lang="en-US" sz="3180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• CHROME LETS US TEST THE PROTOTYPE BEFORE MOBILE SETUP.</a:t>
            </a:r>
            <a:endParaRPr lang="en-US" sz="3180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40865" y="2048510"/>
            <a:ext cx="5387975" cy="9658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175"/>
              </a:lnSpc>
              <a:spcBef>
                <a:spcPct val="0"/>
              </a:spcBef>
            </a:pPr>
            <a:r>
              <a:rPr lang="en-US" sz="298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WHAT WE LEARNED</a:t>
            </a:r>
            <a:endParaRPr lang="en-US" sz="2980" b="1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89116">
                      <a:alpha val="100000"/>
                    </a:srgbClr>
                  </a:gs>
                </a:gsLst>
                <a:lin ang="0"/>
              </a:gra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93022" y="6481833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466138" y="-309633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445081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 rot="5400000">
            <a:off x="-5358771" y="5231234"/>
            <a:ext cx="3625871" cy="7179942"/>
          </a:xfrm>
          <a:custGeom>
            <a:avLst/>
            <a:gdLst/>
            <a:ahLst/>
            <a:cxnLst/>
            <a:rect l="l" t="t" r="r" b="b"/>
            <a:pathLst>
              <a:path w="3625871" h="7179942">
                <a:moveTo>
                  <a:pt x="0" y="0"/>
                </a:moveTo>
                <a:lnTo>
                  <a:pt x="3625871" y="0"/>
                </a:lnTo>
                <a:lnTo>
                  <a:pt x="3625871" y="7179942"/>
                </a:lnTo>
                <a:lnTo>
                  <a:pt x="0" y="7179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91236" y="900605"/>
            <a:ext cx="15618976" cy="7445052"/>
          </a:xfrm>
          <a:custGeom>
            <a:avLst/>
            <a:gdLst/>
            <a:ahLst/>
            <a:cxnLst/>
            <a:rect l="l" t="t" r="r" b="b"/>
            <a:pathLst>
              <a:path w="15618976" h="7445052">
                <a:moveTo>
                  <a:pt x="0" y="0"/>
                </a:moveTo>
                <a:lnTo>
                  <a:pt x="15618976" y="0"/>
                </a:lnTo>
                <a:lnTo>
                  <a:pt x="15618976" y="7445051"/>
                </a:lnTo>
                <a:lnTo>
                  <a:pt x="0" y="74450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1641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25858" y="1376701"/>
            <a:ext cx="15220831" cy="656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5"/>
              </a:lnSpc>
              <a:spcBef>
                <a:spcPct val="0"/>
              </a:spcBef>
            </a:pPr>
            <a:r>
              <a:rPr lang="en-US" sz="3780" b="1">
                <a:solidFill>
                  <a:srgbClr val="171717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OUR DEVELOPMENT PROCESS: START SMALL, CONNECT SCREENS</a:t>
            </a:r>
            <a:endParaRPr lang="en-US" sz="3780" b="1">
              <a:solidFill>
                <a:srgbClr val="171717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-445081" y="6404313"/>
            <a:ext cx="19178162" cy="3882687"/>
            <a:chOff x="0" y="0"/>
            <a:chExt cx="25570883" cy="5176916"/>
          </a:xfrm>
        </p:grpSpPr>
        <p:sp>
          <p:nvSpPr>
            <p:cNvPr id="7" name="Freeform 7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614994" y="4035427"/>
            <a:ext cx="16644306" cy="3857952"/>
          </a:xfrm>
          <a:custGeom>
            <a:avLst/>
            <a:gdLst/>
            <a:ahLst/>
            <a:cxnLst/>
            <a:rect l="l" t="t" r="r" b="b"/>
            <a:pathLst>
              <a:path w="16644306" h="3857952">
                <a:moveTo>
                  <a:pt x="0" y="0"/>
                </a:moveTo>
                <a:lnTo>
                  <a:pt x="16644306" y="0"/>
                </a:lnTo>
                <a:lnTo>
                  <a:pt x="16644306" y="3857952"/>
                </a:lnTo>
                <a:lnTo>
                  <a:pt x="0" y="38579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93060" y="1626767"/>
            <a:ext cx="15219523" cy="183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5"/>
              </a:lnSpc>
            </a:pPr>
            <a:r>
              <a:rPr lang="en-US" sz="5270" b="1">
                <a:solidFill>
                  <a:srgbClr val="333333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WHAT WE LEARNED FROM THE DART FILES</a:t>
            </a:r>
            <a:endParaRPr lang="en-US" sz="5270" b="1">
              <a:solidFill>
                <a:srgbClr val="333333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  <a:p>
            <a:pPr algn="ctr">
              <a:lnSpc>
                <a:spcPts val="7375"/>
              </a:lnSpc>
            </a:pPr>
            <a:r>
              <a:rPr lang="en-US" sz="5270" b="1">
                <a:solidFill>
                  <a:srgbClr val="333333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 </a:t>
            </a:r>
            <a:endParaRPr lang="en-US" sz="5270" b="1">
              <a:solidFill>
                <a:srgbClr val="333333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329192" y="1599253"/>
            <a:ext cx="14230350" cy="7088493"/>
          </a:xfrm>
          <a:custGeom>
            <a:avLst/>
            <a:gdLst/>
            <a:ahLst/>
            <a:cxnLst/>
            <a:rect l="l" t="t" r="r" b="b"/>
            <a:pathLst>
              <a:path w="14230350" h="7088493">
                <a:moveTo>
                  <a:pt x="0" y="0"/>
                </a:moveTo>
                <a:lnTo>
                  <a:pt x="14230350" y="0"/>
                </a:lnTo>
                <a:lnTo>
                  <a:pt x="14230350" y="7088494"/>
                </a:lnTo>
                <a:lnTo>
                  <a:pt x="0" y="70884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53390" y="650875"/>
            <a:ext cx="14608175" cy="14916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3980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PROTOTYPE EVIDENCE: WHAT IS ALREADY IMPLEMENTED</a:t>
            </a:r>
            <a:endParaRPr lang="en-US" sz="3980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2682268" y="1603595"/>
            <a:ext cx="12923464" cy="7079811"/>
          </a:xfrm>
          <a:custGeom>
            <a:avLst/>
            <a:gdLst/>
            <a:ahLst/>
            <a:cxnLst/>
            <a:rect l="l" t="t" r="r" b="b"/>
            <a:pathLst>
              <a:path w="12923464" h="7079811">
                <a:moveTo>
                  <a:pt x="0" y="0"/>
                </a:moveTo>
                <a:lnTo>
                  <a:pt x="12923464" y="0"/>
                </a:lnTo>
                <a:lnTo>
                  <a:pt x="12923464" y="7079810"/>
                </a:lnTo>
                <a:lnTo>
                  <a:pt x="0" y="707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53662" y="650648"/>
            <a:ext cx="14185940" cy="67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3980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PROTOTYPE EVIDENCE: WHAT IS ALREADY IMPLEMENTED</a:t>
            </a:r>
            <a:endParaRPr lang="en-US" sz="3980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4966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373124" y="1721144"/>
            <a:ext cx="14575287" cy="7182806"/>
          </a:xfrm>
          <a:custGeom>
            <a:avLst/>
            <a:gdLst/>
            <a:ahLst/>
            <a:cxnLst/>
            <a:rect l="l" t="t" r="r" b="b"/>
            <a:pathLst>
              <a:path w="14575287" h="7182806">
                <a:moveTo>
                  <a:pt x="0" y="0"/>
                </a:moveTo>
                <a:lnTo>
                  <a:pt x="14575287" y="0"/>
                </a:lnTo>
                <a:lnTo>
                  <a:pt x="14575287" y="7182806"/>
                </a:lnTo>
                <a:lnTo>
                  <a:pt x="0" y="71828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98" b="-4304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53390" y="727075"/>
            <a:ext cx="14570075" cy="15754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3980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PROTOTYPE EVIDENCE: WHAT IS ALREADY IMPLEMENTED</a:t>
            </a:r>
            <a:endParaRPr lang="en-US" sz="3980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453390" y="1812925"/>
            <a:ext cx="15872460" cy="7016115"/>
          </a:xfrm>
          <a:custGeom>
            <a:avLst/>
            <a:gdLst/>
            <a:ahLst/>
            <a:cxnLst/>
            <a:rect l="l" t="t" r="r" b="b"/>
            <a:pathLst>
              <a:path w="16063187" h="7308750">
                <a:moveTo>
                  <a:pt x="0" y="0"/>
                </a:moveTo>
                <a:lnTo>
                  <a:pt x="16063187" y="0"/>
                </a:lnTo>
                <a:lnTo>
                  <a:pt x="16063187" y="7308750"/>
                </a:lnTo>
                <a:lnTo>
                  <a:pt x="0" y="7308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53390" y="650875"/>
            <a:ext cx="14269085" cy="1466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3980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PROTOTYPE EVIDENCE: WHAT IS ALREADY IMPLEMENTED</a:t>
            </a:r>
            <a:endParaRPr lang="en-US" sz="3980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4086225" y="1872909"/>
            <a:ext cx="10257516" cy="6847248"/>
          </a:xfrm>
          <a:custGeom>
            <a:avLst/>
            <a:gdLst/>
            <a:ahLst/>
            <a:cxnLst/>
            <a:rect l="l" t="t" r="r" b="b"/>
            <a:pathLst>
              <a:path w="10257516" h="6847248">
                <a:moveTo>
                  <a:pt x="0" y="0"/>
                </a:moveTo>
                <a:lnTo>
                  <a:pt x="10257516" y="0"/>
                </a:lnTo>
                <a:lnTo>
                  <a:pt x="10257516" y="6847248"/>
                </a:lnTo>
                <a:lnTo>
                  <a:pt x="0" y="68472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53390" y="650875"/>
            <a:ext cx="14310995" cy="14325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3980" b="1">
                <a:solidFill>
                  <a:srgbClr val="000000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PROTOTYPE EVIDENCE: WHAT IS ALREADY IMPLEMENTED</a:t>
            </a:r>
            <a:endParaRPr lang="en-US" sz="3980" b="1">
              <a:solidFill>
                <a:srgbClr val="000000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900162" y="1028700"/>
            <a:ext cx="15359013" cy="7930175"/>
          </a:xfrm>
          <a:custGeom>
            <a:avLst/>
            <a:gdLst/>
            <a:ahLst/>
            <a:cxnLst/>
            <a:rect l="l" t="t" r="r" b="b"/>
            <a:pathLst>
              <a:path w="15359013" h="7930175">
                <a:moveTo>
                  <a:pt x="0" y="0"/>
                </a:moveTo>
                <a:lnTo>
                  <a:pt x="15359013" y="0"/>
                </a:lnTo>
                <a:lnTo>
                  <a:pt x="15359013" y="7930175"/>
                </a:lnTo>
                <a:lnTo>
                  <a:pt x="0" y="7930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551" b="-4392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260761" y="900911"/>
            <a:ext cx="15510899" cy="7898846"/>
          </a:xfrm>
          <a:custGeom>
            <a:avLst/>
            <a:gdLst/>
            <a:ahLst/>
            <a:cxnLst/>
            <a:rect l="l" t="t" r="r" b="b"/>
            <a:pathLst>
              <a:path w="15510899" h="7898846">
                <a:moveTo>
                  <a:pt x="0" y="0"/>
                </a:moveTo>
                <a:lnTo>
                  <a:pt x="15510899" y="0"/>
                </a:lnTo>
                <a:lnTo>
                  <a:pt x="15510899" y="7898846"/>
                </a:lnTo>
                <a:lnTo>
                  <a:pt x="0" y="78988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53" t="-490" b="-10798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15189203" cy="7842372"/>
          </a:xfrm>
          <a:custGeom>
            <a:avLst/>
            <a:gdLst/>
            <a:ahLst/>
            <a:cxnLst/>
            <a:rect l="l" t="t" r="r" b="b"/>
            <a:pathLst>
              <a:path w="15189203" h="7842372">
                <a:moveTo>
                  <a:pt x="0" y="0"/>
                </a:moveTo>
                <a:lnTo>
                  <a:pt x="15189203" y="0"/>
                </a:lnTo>
                <a:lnTo>
                  <a:pt x="15189203" y="7842372"/>
                </a:lnTo>
                <a:lnTo>
                  <a:pt x="0" y="7842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634" b="-6311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299089" y="1639275"/>
            <a:ext cx="13786752" cy="7008449"/>
          </a:xfrm>
          <a:custGeom>
            <a:avLst/>
            <a:gdLst/>
            <a:ahLst/>
            <a:cxnLst/>
            <a:rect l="l" t="t" r="r" b="b"/>
            <a:pathLst>
              <a:path w="13786752" h="7008449">
                <a:moveTo>
                  <a:pt x="0" y="0"/>
                </a:moveTo>
                <a:lnTo>
                  <a:pt x="13786753" y="0"/>
                </a:lnTo>
                <a:lnTo>
                  <a:pt x="13786753" y="7008450"/>
                </a:lnTo>
                <a:lnTo>
                  <a:pt x="0" y="7008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467" r="-2975" b="-8478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15479965" cy="7879956"/>
          </a:xfrm>
          <a:custGeom>
            <a:avLst/>
            <a:gdLst/>
            <a:ahLst/>
            <a:cxnLst/>
            <a:rect l="l" t="t" r="r" b="b"/>
            <a:pathLst>
              <a:path w="15479965" h="7879956">
                <a:moveTo>
                  <a:pt x="0" y="0"/>
                </a:moveTo>
                <a:lnTo>
                  <a:pt x="15479965" y="0"/>
                </a:lnTo>
                <a:lnTo>
                  <a:pt x="15479965" y="7879956"/>
                </a:lnTo>
                <a:lnTo>
                  <a:pt x="0" y="78799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917" r="-4023" b="-9030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168246"/>
            <a:ext cx="15084684" cy="7578896"/>
          </a:xfrm>
          <a:custGeom>
            <a:avLst/>
            <a:gdLst/>
            <a:ahLst/>
            <a:cxnLst/>
            <a:rect l="l" t="t" r="r" b="b"/>
            <a:pathLst>
              <a:path w="15084684" h="7578896">
                <a:moveTo>
                  <a:pt x="0" y="0"/>
                </a:moveTo>
                <a:lnTo>
                  <a:pt x="15084684" y="0"/>
                </a:lnTo>
                <a:lnTo>
                  <a:pt x="15084684" y="7578896"/>
                </a:lnTo>
                <a:lnTo>
                  <a:pt x="0" y="75788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627" r="-2422" b="-9042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15447569" cy="7800541"/>
          </a:xfrm>
          <a:custGeom>
            <a:avLst/>
            <a:gdLst/>
            <a:ahLst/>
            <a:cxnLst/>
            <a:rect l="l" t="t" r="r" b="b"/>
            <a:pathLst>
              <a:path w="15447569" h="7800541">
                <a:moveTo>
                  <a:pt x="0" y="0"/>
                </a:moveTo>
                <a:lnTo>
                  <a:pt x="15447569" y="0"/>
                </a:lnTo>
                <a:lnTo>
                  <a:pt x="15447569" y="7800541"/>
                </a:lnTo>
                <a:lnTo>
                  <a:pt x="0" y="78005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510" b="-5882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443773" y="1056941"/>
            <a:ext cx="14815402" cy="7555881"/>
          </a:xfrm>
          <a:custGeom>
            <a:avLst/>
            <a:gdLst/>
            <a:ahLst/>
            <a:cxnLst/>
            <a:rect l="l" t="t" r="r" b="b"/>
            <a:pathLst>
              <a:path w="14815402" h="7555881">
                <a:moveTo>
                  <a:pt x="0" y="0"/>
                </a:moveTo>
                <a:lnTo>
                  <a:pt x="14815402" y="0"/>
                </a:lnTo>
                <a:lnTo>
                  <a:pt x="14815402" y="7555881"/>
                </a:lnTo>
                <a:lnTo>
                  <a:pt x="0" y="75558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474" r="-3760" b="-8966"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877850" y="699628"/>
            <a:ext cx="15636904" cy="8014659"/>
          </a:xfrm>
          <a:custGeom>
            <a:avLst/>
            <a:gdLst/>
            <a:ahLst/>
            <a:cxnLst/>
            <a:rect l="l" t="t" r="r" b="b"/>
            <a:pathLst>
              <a:path w="15636904" h="8014659">
                <a:moveTo>
                  <a:pt x="0" y="0"/>
                </a:moveTo>
                <a:lnTo>
                  <a:pt x="15636904" y="0"/>
                </a:lnTo>
                <a:lnTo>
                  <a:pt x="15636904" y="8014659"/>
                </a:lnTo>
                <a:lnTo>
                  <a:pt x="0" y="8014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110" r="-3828" b="-8837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-572870" y="6404313"/>
            <a:ext cx="19178162" cy="3882687"/>
            <a:chOff x="0" y="0"/>
            <a:chExt cx="25570883" cy="5176916"/>
          </a:xfrm>
        </p:grpSpPr>
        <p:sp>
          <p:nvSpPr>
            <p:cNvPr id="6" name="Freeform 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333165" y="803447"/>
            <a:ext cx="14926010" cy="7610644"/>
          </a:xfrm>
          <a:custGeom>
            <a:avLst/>
            <a:gdLst/>
            <a:ahLst/>
            <a:cxnLst/>
            <a:rect l="l" t="t" r="r" b="b"/>
            <a:pathLst>
              <a:path w="14926010" h="7610644">
                <a:moveTo>
                  <a:pt x="0" y="0"/>
                </a:moveTo>
                <a:lnTo>
                  <a:pt x="14926010" y="0"/>
                </a:lnTo>
                <a:lnTo>
                  <a:pt x="14926010" y="7610644"/>
                </a:lnTo>
                <a:lnTo>
                  <a:pt x="0" y="7610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905" r="-4905" b="-10823"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426259" y="4101826"/>
            <a:ext cx="11435483" cy="209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90"/>
              </a:lnSpc>
            </a:pPr>
            <a:r>
              <a:rPr lang="en-US" sz="12210" b="1">
                <a:solidFill>
                  <a:srgbClr val="333333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rPr>
              <a:t>THANK YOU!</a:t>
            </a:r>
            <a:endParaRPr lang="en-US" sz="12210" b="1">
              <a:solidFill>
                <a:srgbClr val="333333"/>
              </a:solidFill>
              <a:latin typeface="Maven Pro Bold" panose="00000800000000000000"/>
              <a:ea typeface="Maven Pro Bold" panose="00000800000000000000"/>
              <a:cs typeface="Maven Pro Bold" panose="00000800000000000000"/>
              <a:sym typeface="Maven Pro Bold" panose="00000800000000000000"/>
            </a:endParaRPr>
          </a:p>
        </p:txBody>
      </p:sp>
      <p:sp>
        <p:nvSpPr>
          <p:cNvPr id="6" name="Freeform 6"/>
          <p:cNvSpPr/>
          <p:nvPr/>
        </p:nvSpPr>
        <p:spPr>
          <a:xfrm rot="5400000">
            <a:off x="105177" y="6023399"/>
            <a:ext cx="4190896" cy="4458400"/>
          </a:xfrm>
          <a:custGeom>
            <a:avLst/>
            <a:gdLst/>
            <a:ahLst/>
            <a:cxnLst/>
            <a:rect l="l" t="t" r="r" b="b"/>
            <a:pathLst>
              <a:path w="4190896" h="4458400">
                <a:moveTo>
                  <a:pt x="0" y="0"/>
                </a:moveTo>
                <a:lnTo>
                  <a:pt x="4190896" y="0"/>
                </a:lnTo>
                <a:lnTo>
                  <a:pt x="4190896" y="4458400"/>
                </a:lnTo>
                <a:lnTo>
                  <a:pt x="0" y="4458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 flipH="1" flipV="1">
            <a:off x="13994197" y="-194729"/>
            <a:ext cx="4188696" cy="4456059"/>
          </a:xfrm>
          <a:custGeom>
            <a:avLst/>
            <a:gdLst/>
            <a:ahLst/>
            <a:cxnLst/>
            <a:rect l="l" t="t" r="r" b="b"/>
            <a:pathLst>
              <a:path w="4188696" h="4456059">
                <a:moveTo>
                  <a:pt x="4188696" y="4456060"/>
                </a:moveTo>
                <a:lnTo>
                  <a:pt x="0" y="4456060"/>
                </a:lnTo>
                <a:lnTo>
                  <a:pt x="0" y="0"/>
                </a:lnTo>
                <a:lnTo>
                  <a:pt x="4188696" y="0"/>
                </a:lnTo>
                <a:lnTo>
                  <a:pt x="4188696" y="44560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-445081" y="6404313"/>
            <a:ext cx="19178162" cy="3882687"/>
            <a:chOff x="0" y="0"/>
            <a:chExt cx="25570883" cy="5176916"/>
          </a:xfrm>
        </p:grpSpPr>
        <p:sp>
          <p:nvSpPr>
            <p:cNvPr id="9" name="Freeform 9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ZARIFA RAHMAN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TAZREAN TASNEEM</a:t>
              </a:r>
              <a:endParaRPr lang="en-US" sz="192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TAHMIDATUL AYESHA ASHA 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SOUMIK SIKDER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TANZIM AHAMAD</a:t>
              </a:r>
              <a:endParaRPr lang="en-US" sz="198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 panose="00000800000000000000"/>
                  <a:ea typeface="Maven Pro Bold" panose="00000800000000000000"/>
                  <a:cs typeface="Maven Pro Bold" panose="00000800000000000000"/>
                  <a:sym typeface="Maven Pro Bold" panose="00000800000000000000"/>
                </a:rPr>
                <a:t>Group 02</a:t>
              </a:r>
              <a:endParaRPr lang="en-US" sz="2200" b="1">
                <a:solidFill>
                  <a:srgbClr val="FFFFFF"/>
                </a:solidFill>
                <a:latin typeface="Maven Pro Bold" panose="00000800000000000000"/>
                <a:ea typeface="Maven Pro Bold" panose="00000800000000000000"/>
                <a:cs typeface="Maven Pro Bold" panose="00000800000000000000"/>
                <a:sym typeface="Maven Pro Bold" panose="0000080000000000000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3001</Words>
  <Application>WPS Presentation</Application>
  <PresentationFormat>On-screen Show (4:3)</PresentationFormat>
  <Paragraphs>313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Maven Pro Bold</vt:lpstr>
      <vt:lpstr>Muli Bold</vt:lpstr>
      <vt:lpstr>Glacial Indifference Bold</vt:lpstr>
      <vt:lpstr>Glacial Indifference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SideQuest</dc:title>
  <dc:creator/>
  <cp:lastModifiedBy>User</cp:lastModifiedBy>
  <cp:revision>2</cp:revision>
  <dcterms:created xsi:type="dcterms:W3CDTF">2006-08-16T00:00:00Z</dcterms:created>
  <dcterms:modified xsi:type="dcterms:W3CDTF">2026-10-11T17:06:05Z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5365F0763F01482A8DE71F3B72EC9067_13</vt:lpwstr>
  </property>
</Properties>
</file>